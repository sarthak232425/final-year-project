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F"/>
                </a:solidFill>
              </a:defRPr>
            </a:pPr>
            <a:r>
              <a:t>AI-Based Customer Segmentation and</a:t>
            </a:r>
            <a:br/>
            <a:r>
              <a:t>Personalized WhatsApp Marketing Platform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Department of Information Technology • Final Year B.E. Project</a:t>
            </a:r>
            <a:br/>
            <a:r>
              <a:t>Review-2: MVP Implementation &amp; Research Paper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F"/>
                </a:solidFill>
              </a:defRPr>
            </a:pPr>
            <a:r>
              <a:t>Problem Statement &amp; Industry Context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The challenge of conversational commerce and marketing fatigue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Traditional retail marketing relies on generic email/SMS broadcasts (&lt;3% click-through, high opt-outs).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WhatsApp delivers &gt;90% open rates, but unguided messaging triggers spam reports, blockages, and churn.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Small &amp; mid-size retailers lack automated ML pipelines to segment customers based on actual purchasing habits.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Lack of automated fatigue guardrails: Existing systems do not enforce frequency caps or privacy consent policies.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F"/>
                </a:solidFill>
              </a:defRPr>
            </a:pPr>
            <a:r>
              <a:t>End-to-End System Architecture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Layered design separating analytics, policy enforcement, and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Ingestion &amp; Hygiene: Parses raw transactions, isolates cancellations ('C'), filters corrupt records.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RFM Feature Engineering: Extracts Recency, Frequency, Monetary spend; applies log-transform &amp; Z-score scaling.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Clustering &amp; Validation: K-Means with automated K-sweep evaluating Silhouette, Davies–Bouldin, and Calinski–Harabasz.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Recommendation Engine: Maps segments to campaign archetypes with human-readable rationale.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Fatigue Prevention Gate: Enforces consent checks, global suppression, and rolling 30-day frequency caps.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Presentation Layer: FastAPI REST backend + React 18 / TypeScript interactive web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F"/>
                </a:solidFill>
              </a:defRPr>
            </a:pPr>
            <a:r>
              <a:t>Data Ingestion &amp; Hygiene Pipeline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Guaranteed data quality prior to feature vector 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Automatic column alias mapping (supports standard UCI Online Retail format).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Strict validation checks: drops missing customer IDs, invalid date strings, negative prices/quantities.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Cancellation Isolation: Orders starting with 'C' are separated to prevent distorted purchase frequencies.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Quality Gate Metrics: Retention rate and comprehensive issue logs reported with each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F"/>
                </a:solidFill>
              </a:defRPr>
            </a:pPr>
            <a:r>
              <a:t>RFM Feature Formulation &amp; Normalization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Mathematical basis for customer behavioral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Recency (R): Days elapsed since customer's last valid invoice relative to reference date.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Frequency (F): Total count of distinct, valid purchase invoices.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Monetary (M): Lifetime net transactional spend (sum of quantity * unit price).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Log-Transformation: x' = ln(x + 1) compresses severe Pareto spend skewness.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Standardization: Z-score scaling ensures equal weight across dimensions in Euclidean 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F"/>
                </a:solidFill>
              </a:defRPr>
            </a:pPr>
            <a:r>
              <a:t>Unsupervised Clustering &amp; Optimal K Selection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Algorithmic parameter tuning without arbitrary human guessing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Automated parameter sweep across K in [2, 10] with reproducible random seed (seed=42).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Selected K = 4 achieves peak Silhouette Score (0.4328) and lowest Davies–Bouldin Index (0.8712).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Segment 0 (Champions): Low Recency (12d), High Frequency (8.5), High Spend ($1,240).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Segment 1 (Loyal Steady): Medium Recency (28d), Consistent Frequency (4.0).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Segment 2 (At Risk): High Recency (92d), Prior regular spenders drifting away.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Segment 3 (Hibernating): Very high Recency (180d), Low Frequency (1.0).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F"/>
                </a:solidFill>
              </a:defRPr>
            </a:pPr>
            <a:r>
              <a:t>Explainable Campaign Recommendations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Transparent heuristics bridging machine learning into business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Champions -&gt; VIP Exclusive Loyalty Campaign (exclusive early access discounts).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Loyal Steady -&gt; Tier Progression / Reward Points Campaign.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Recent One-Time -&gt; Cross-Sell &amp; Complementary Product Campaign.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At Risk / Hibernating -&gt; Win-Back Reactivation Campaign with tiered incentives.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Full Explainability: Every recommendation generates a clear natural-language rationale.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F"/>
                </a:solidFill>
              </a:defRPr>
            </a:pPr>
            <a:r>
              <a:t>Marketing Fatigue Prevention Engine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Ethical guardrails and regulatory compliance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Consent Gate: Mandatory verification of customer opt-in (consent_given == True).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Suppression Gate: Automated exclusion of customers on global opt-out/suppression lists.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Frequency Capping: Hard limit of max 3 messages per rolling 30-day window.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Lifecycle Matching: Campaign window alignment (e.g., Win-Back requires Recency &gt;= 30 days).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Zero Unauthorized Dispatches: 100% compliance verified in test suite.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F"/>
                </a:solidFill>
              </a:defRPr>
            </a:pPr>
            <a:r>
              <a:t>Software Engineering &amp; Architecture Patterns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Modular, production-ready full-stack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Clean Architecture: Routers, Services, Schemas, ORM Models, and Adapters strictly decoupled.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Adapter Pattern: MockWhatsAppAdapter for offline testing &amp; review with [SIMULATED] tags; Live adapter ready.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Type Safety: Pydantic v2 schemas on backend; strict TypeScript interfaces on frontend.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Modern Frontend: React 18, Vite, responsive dark-mode design system with zero external UI bloat.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F"/>
                </a:solidFill>
              </a:defRPr>
            </a:pPr>
            <a:r>
              <a:t>Automated Testing &amp; Quality Assurance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Comprehensive verification with hand-calculated test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test_ingestion.py: CSV parser validation, edge cases, alias normalization.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test_rfm.py: RFM calculations verified against hand-calculated mathematical test cases.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test_clustering.py: Cluster assignments, metrics validity, and reproducibility.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test_fatigue.py: Consent blocking, suppression lists, frequency saturation.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test_recommendations.py: Recommendation completeness, scoring, and non-null explanations.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F"/>
                </a:solidFill>
              </a:defRPr>
            </a:pPr>
            <a:r>
              <a:t>Live Demonstration Plan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Walkthrough of working MVP on localhost:5173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1. Data Ingestion: Loading example transactions and viewing real-time data cleaning summary.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2. RFM &amp; Clustering: Executing ML pipeline and exploring behavioral customer cohorts.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3. Validation Metrics: Reviewing K-selection sweep and Silhouette Score profile.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4. Recommendations: Inspecting explainable campaign cards and fatigue gate rejections.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5. WhatsApp Simulation: Demonstrating simulated chat template dispatch with audit trail.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solidFill>
              <a:srgbClr val="0A0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F"/>
                </a:solidFill>
              </a:defRPr>
            </a:pPr>
            <a:r>
              <a:t>Review 2 Deliverables &amp; Next Phase Roadmap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Project progress summary and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Completed for Review 2: Runnable MVP, verified clustering, research paper draft, presentation deck.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Next Phase (Review 3): Multi-tenant database isolation, live Meta Cloud API integration, XGBoost churn modeling.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Academic Deliverable: Research paper draft prepared in IEEE format with 10 verified citations.</a:t>
            </a:r>
          </a:p>
          <a:p>
            <a:pPr>
              <a:spcBef>
                <a:spcPts val="1400"/>
              </a:spcBef>
              <a:defRPr sz="1600">
                <a:solidFill>
                  <a:srgbClr val="F0F4FF"/>
                </a:solidFill>
              </a:defRPr>
            </a:pPr>
            <a:r>
              <a:t>• Thank You: Open for Questions &amp; Technical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